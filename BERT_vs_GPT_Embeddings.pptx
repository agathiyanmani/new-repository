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47345"/>
            <a:ext cx="1005840" cy="27432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548640"/>
            <a:ext cx="731520" cy="68580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822960"/>
            <a:ext cx="822960" cy="73152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1554480"/>
            <a:ext cx="1005840" cy="18288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548640"/>
            <a:ext cx="182880" cy="100584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0" y="1234440"/>
            <a:ext cx="45720" cy="91440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554480"/>
            <a:ext cx="960120" cy="59436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1737360"/>
            <a:ext cx="457200" cy="59436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2148840"/>
            <a:ext cx="1508760" cy="18288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1554480"/>
            <a:ext cx="548640" cy="777240"/>
          </a:xfrm>
          <a:prstGeom prst="line">
            <a:avLst/>
          </a:prstGeom>
          <a:noFill/>
          <a:ln w="15875">
            <a:solidFill>
              <a:srgbClr val="1E3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9488" y="749808"/>
            <a:ext cx="146304" cy="146304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13" name="Shape 11"/>
          <p:cNvSpPr/>
          <p:nvPr/>
        </p:nvSpPr>
        <p:spPr>
          <a:xfrm>
            <a:off x="10625328" y="475488"/>
            <a:ext cx="146304" cy="146304"/>
          </a:xfrm>
          <a:prstGeom prst="ellipse">
            <a:avLst/>
          </a:prstGeom>
          <a:solidFill>
            <a:srgbClr val="8FB4E3"/>
          </a:solidFill>
        </p:spPr>
      </p:sp>
      <p:sp>
        <p:nvSpPr>
          <p:cNvPr id="14" name="Shape 12"/>
          <p:cNvSpPr/>
          <p:nvPr/>
        </p:nvSpPr>
        <p:spPr>
          <a:xfrm>
            <a:off x="11356848" y="1161288"/>
            <a:ext cx="146304" cy="146304"/>
          </a:xfrm>
          <a:prstGeom prst="ellipse">
            <a:avLst/>
          </a:prstGeom>
          <a:solidFill>
            <a:srgbClr val="8FB4E3"/>
          </a:solidFill>
        </p:spPr>
      </p:sp>
      <p:sp>
        <p:nvSpPr>
          <p:cNvPr id="15" name="Shape 13"/>
          <p:cNvSpPr/>
          <p:nvPr/>
        </p:nvSpPr>
        <p:spPr>
          <a:xfrm>
            <a:off x="10442448" y="1481328"/>
            <a:ext cx="146304" cy="146304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16" name="Shape 14"/>
          <p:cNvSpPr/>
          <p:nvPr/>
        </p:nvSpPr>
        <p:spPr>
          <a:xfrm>
            <a:off x="9436608" y="1664208"/>
            <a:ext cx="146304" cy="146304"/>
          </a:xfrm>
          <a:prstGeom prst="ellipse">
            <a:avLst/>
          </a:prstGeom>
          <a:solidFill>
            <a:srgbClr val="8FB4E3"/>
          </a:solidFill>
        </p:spPr>
      </p:sp>
      <p:sp>
        <p:nvSpPr>
          <p:cNvPr id="17" name="Shape 15"/>
          <p:cNvSpPr/>
          <p:nvPr/>
        </p:nvSpPr>
        <p:spPr>
          <a:xfrm>
            <a:off x="11402568" y="2075688"/>
            <a:ext cx="146304" cy="146304"/>
          </a:xfrm>
          <a:prstGeom prst="ellipse">
            <a:avLst/>
          </a:prstGeom>
          <a:solidFill>
            <a:srgbClr val="8FB4E3"/>
          </a:solidFill>
        </p:spPr>
      </p:sp>
      <p:sp>
        <p:nvSpPr>
          <p:cNvPr id="18" name="Shape 16"/>
          <p:cNvSpPr/>
          <p:nvPr/>
        </p:nvSpPr>
        <p:spPr>
          <a:xfrm>
            <a:off x="9893808" y="2258568"/>
            <a:ext cx="146304" cy="146304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19" name="Text 17"/>
          <p:cNvSpPr txBox="1"/>
          <p:nvPr/>
        </p:nvSpPr>
        <p:spPr>
          <a:xfrm>
            <a:off x="1315720" y="56007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KONGUNADU COLLEGE OF ENGINEERING AND TECHNOLOGY</a:t>
            </a:r>
            <a:endParaRPr lang="en-US" sz="2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08660" y="1755775"/>
            <a:ext cx="1113155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 TITLE:Compare BERT vs GPT Embeddings</a:t>
            </a:r>
            <a:endParaRPr lang="en-US" sz="3200" b="1" dirty="0">
              <a:solidFill>
                <a:srgbClr val="FFFFFF"/>
              </a:solidFill>
              <a:latin typeface="Times New Roman" panose="02020603050405020304" charset="0"/>
              <a:ea typeface="Cambria" panose="0204050305040603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41375" y="2743200"/>
            <a:ext cx="8778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sentence embeddings using BERT and GPT, compare similarity scores, and perform clustering.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1E3A66"/>
          </a:solidFill>
        </p:spPr>
      </p:sp>
      <p:sp>
        <p:nvSpPr>
          <p:cNvPr id="24" name="Text 22"/>
          <p:cNvSpPr txBox="1"/>
          <p:nvPr/>
        </p:nvSpPr>
        <p:spPr>
          <a:xfrm>
            <a:off x="1573530" y="41351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B4E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SUBJECT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752600" y="447344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         Natural Language Processing</a:t>
            </a: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573530" y="506996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FB4E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DEPARTMENT</a:t>
            </a:r>
            <a:endParaRPr lang="en-US" sz="1400" b="1" kern="0" spc="100" dirty="0">
              <a:solidFill>
                <a:srgbClr val="8FB4E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118870" y="5532755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                   Computer Science and Engineering</a:t>
            </a: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382385" y="403059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FB4E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STUDENT NAME</a:t>
            </a:r>
            <a:endParaRPr lang="en-US" sz="1400" b="1" kern="0" spc="100" dirty="0">
              <a:solidFill>
                <a:srgbClr val="8FB4E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795770" y="4473575"/>
            <a:ext cx="3098165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M. Agathiyan,</a:t>
            </a: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C.Jagadee sh Kumar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382385" y="5069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FB4E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REGISTER NUMBER</a:t>
            </a:r>
            <a:endParaRPr lang="en-US" sz="1400" b="1" kern="0" spc="100" dirty="0">
              <a:solidFill>
                <a:srgbClr val="8FB4E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4242435" y="128397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GENERATIVE AI</a:t>
            </a:r>
            <a:r>
              <a:rPr lang="en-US">
                <a:solidFill>
                  <a:schemeClr val="bg1"/>
                </a:solidFill>
              </a:rPr>
              <a:t> 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0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78778" y="442913"/>
            <a:ext cx="739775" cy="796925"/>
          </a:xfrm>
          <a:prstGeom prst="rect">
            <a:avLst/>
          </a:prstGeom>
        </p:spPr>
      </p:pic>
      <p:sp>
        <p:nvSpPr>
          <p:cNvPr id="41" name="Text Box 40"/>
          <p:cNvSpPr txBox="1"/>
          <p:nvPr/>
        </p:nvSpPr>
        <p:spPr>
          <a:xfrm>
            <a:off x="6707505" y="54622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621324104002,</a:t>
            </a:r>
            <a:endParaRPr lang="en-US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621324104064</a:t>
            </a:r>
            <a:endParaRPr lang="en-US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1448943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0" cy="448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 (NLP) is a branch of Artificial Intelligence that helps computers understand, interpret, and generate human language.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sentence embedding is a fixed-length numerical vector that represents the meaning of a sentence.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models convert words and sentences into vectors of numbers so that computers can process language mathematically.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Sentences with similar meaning produce vectors that lie close together, allowing machines to compare meaning using distance or similarity scores.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03720" y="17830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2E5C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TEXT-TO-VECTOR CONVERSION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35240" y="22402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A7F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35240" y="2240280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“I love NLP”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81160" y="2944368"/>
            <a:ext cx="0" cy="384048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35240" y="3346704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2E5C99"/>
          </a:solidFill>
        </p:spPr>
      </p:sp>
      <p:sp>
        <p:nvSpPr>
          <p:cNvPr id="11" name="Text 9"/>
          <p:cNvSpPr txBox="1"/>
          <p:nvPr/>
        </p:nvSpPr>
        <p:spPr>
          <a:xfrm>
            <a:off x="7635240" y="3346704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Model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(BERT / GPT)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281160" y="4050792"/>
            <a:ext cx="0" cy="384048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4453128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13294B"/>
          </a:solidFill>
        </p:spPr>
      </p:sp>
      <p:sp>
        <p:nvSpPr>
          <p:cNvPr id="14" name="Text 12"/>
          <p:cNvSpPr txBox="1"/>
          <p:nvPr/>
        </p:nvSpPr>
        <p:spPr>
          <a:xfrm>
            <a:off x="7498080" y="4453128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Vector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[0.12, -0.45, 0.78, ... 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54864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meaning → vectors lie close together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Aim and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3294B"/>
          </a:solidFill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generate sentence embeddings using BERT and GPT, and to compare their similarity and clustering results.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282696"/>
            <a:ext cx="457200" cy="45720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9" name="Text 7"/>
          <p:cNvSpPr txBox="1"/>
          <p:nvPr/>
        </p:nvSpPr>
        <p:spPr>
          <a:xfrm>
            <a:off x="804672" y="32826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20040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sentence embeddings using BERT and GPT.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3282696"/>
            <a:ext cx="457200" cy="45720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3" name="Text 11"/>
          <p:cNvSpPr txBox="1"/>
          <p:nvPr/>
        </p:nvSpPr>
        <p:spPr>
          <a:xfrm>
            <a:off x="6428232" y="32826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20040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 cosine similarity between sentence pairs.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654296"/>
            <a:ext cx="457200" cy="45720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7" name="Text 15"/>
          <p:cNvSpPr txBox="1"/>
          <p:nvPr/>
        </p:nvSpPr>
        <p:spPr>
          <a:xfrm>
            <a:off x="804672" y="4654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7200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 K-Means clustering on the generated embeddings.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4654296"/>
            <a:ext cx="457200" cy="45720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21" name="Text 19"/>
          <p:cNvSpPr txBox="1"/>
          <p:nvPr/>
        </p:nvSpPr>
        <p:spPr>
          <a:xfrm>
            <a:off x="6428232" y="46542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57200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and compare the results using PCA.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37515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to BERT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852160" cy="448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 stands for Bidirectional Encoder Representations from Transformers.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reads a sentence in both directions at the same time (left-to-right and right-to-left) — this is called bidirectional context.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 is built using only the Encoder part of the Transformer architecture.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 include text classification, question answering, and language understanding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12280" y="160020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12280" y="17556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C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 ARCHITECTURE (ENCODER-ONLY)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072884" y="214884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72884" y="21488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[CLS]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9852" y="214884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9852" y="21488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846820" y="214884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46820" y="21488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733788" y="214884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33788" y="21488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20756" y="214884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20756" y="21488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[SEP]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72884" y="2715768"/>
            <a:ext cx="4325112" cy="0"/>
          </a:xfrm>
          <a:prstGeom prst="line">
            <a:avLst/>
          </a:prstGeom>
          <a:noFill/>
          <a:ln w="19050">
            <a:solidFill>
              <a:srgbClr val="4A7FC1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072884" y="2770632"/>
            <a:ext cx="4325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both directions at once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35440" y="3108960"/>
            <a:ext cx="0" cy="32004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88936" y="3300984"/>
            <a:ext cx="3493008" cy="502920"/>
          </a:xfrm>
          <a:prstGeom prst="roundRect">
            <a:avLst>
              <a:gd name="adj" fmla="val 9091"/>
            </a:avLst>
          </a:prstGeom>
          <a:solidFill>
            <a:srgbClr val="4A7FC1"/>
          </a:solidFill>
        </p:spPr>
      </p:sp>
      <p:sp>
        <p:nvSpPr>
          <p:cNvPr id="21" name="Shape 19"/>
          <p:cNvSpPr/>
          <p:nvPr/>
        </p:nvSpPr>
        <p:spPr>
          <a:xfrm>
            <a:off x="7379208" y="3410712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4A7FC1"/>
          </a:solidFill>
        </p:spPr>
      </p:sp>
      <p:sp>
        <p:nvSpPr>
          <p:cNvPr id="22" name="Shape 20"/>
          <p:cNvSpPr/>
          <p:nvPr/>
        </p:nvSpPr>
        <p:spPr>
          <a:xfrm>
            <a:off x="7269480" y="3520440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2E5C99"/>
          </a:solidFill>
        </p:spPr>
      </p:sp>
      <p:sp>
        <p:nvSpPr>
          <p:cNvPr id="23" name="Text 21"/>
          <p:cNvSpPr txBox="1"/>
          <p:nvPr/>
        </p:nvSpPr>
        <p:spPr>
          <a:xfrm>
            <a:off x="7269480" y="352044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Encoder Block × 12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235440" y="4178808"/>
            <a:ext cx="0" cy="32004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32320" y="4572000"/>
            <a:ext cx="4206240" cy="640080"/>
          </a:xfrm>
          <a:prstGeom prst="roundRect">
            <a:avLst>
              <a:gd name="adj" fmla="val 7143"/>
            </a:avLst>
          </a:prstGeom>
          <a:solidFill>
            <a:srgbClr val="13294B"/>
          </a:solidFill>
        </p:spPr>
      </p:sp>
      <p:sp>
        <p:nvSpPr>
          <p:cNvPr id="26" name="Text 24"/>
          <p:cNvSpPr txBox="1"/>
          <p:nvPr/>
        </p:nvSpPr>
        <p:spPr>
          <a:xfrm>
            <a:off x="7132320" y="457200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Contextual Sentence Embedding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to GPT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41755"/>
            <a:ext cx="5852160" cy="3016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 stands for Generative Pre-trained Transformer.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 is built using only the Decoder part of the Transformer architecture.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processes text left-to-right and predicts the next token using only previous words — this is called causal (unidirectional) processing.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embeddings can be formed by pooling GPT's hidden states, although GPT was not originally designed for this purpose.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12280" y="160020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12280" y="175564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5C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 ARCHITECTURE (DECODER-ONLY)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292340" y="214884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92340" y="214884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79308" y="2377440"/>
            <a:ext cx="100584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98180" y="214884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8180" y="214884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85148" y="2377440"/>
            <a:ext cx="100584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04020" y="214884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4020" y="214884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sat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190988" y="2377440"/>
            <a:ext cx="100584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309860" y="214884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09860" y="214884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292340" y="2679192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causal: each word sees only earlier words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35440" y="3044952"/>
            <a:ext cx="0" cy="32004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88936" y="3209544"/>
            <a:ext cx="3493008" cy="502920"/>
          </a:xfrm>
          <a:prstGeom prst="roundRect">
            <a:avLst>
              <a:gd name="adj" fmla="val 9091"/>
            </a:avLst>
          </a:prstGeom>
          <a:solidFill>
            <a:srgbClr val="4A7FC1"/>
          </a:solidFill>
        </p:spPr>
      </p:sp>
      <p:sp>
        <p:nvSpPr>
          <p:cNvPr id="21" name="Shape 19"/>
          <p:cNvSpPr/>
          <p:nvPr/>
        </p:nvSpPr>
        <p:spPr>
          <a:xfrm>
            <a:off x="7379208" y="3319272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4A7FC1"/>
          </a:solidFill>
        </p:spPr>
      </p:sp>
      <p:sp>
        <p:nvSpPr>
          <p:cNvPr id="22" name="Shape 20"/>
          <p:cNvSpPr/>
          <p:nvPr/>
        </p:nvSpPr>
        <p:spPr>
          <a:xfrm>
            <a:off x="7269480" y="3429000"/>
            <a:ext cx="3931920" cy="502920"/>
          </a:xfrm>
          <a:prstGeom prst="roundRect">
            <a:avLst>
              <a:gd name="adj" fmla="val 9091"/>
            </a:avLst>
          </a:prstGeom>
          <a:solidFill>
            <a:srgbClr val="2E5C99"/>
          </a:solidFill>
        </p:spPr>
      </p:sp>
      <p:sp>
        <p:nvSpPr>
          <p:cNvPr id="23" name="Text 21"/>
          <p:cNvSpPr txBox="1"/>
          <p:nvPr/>
        </p:nvSpPr>
        <p:spPr>
          <a:xfrm>
            <a:off x="7269480" y="342900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Decoder Block × 12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235440" y="4087368"/>
            <a:ext cx="0" cy="32004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32320" y="4480560"/>
            <a:ext cx="4206240" cy="640080"/>
          </a:xfrm>
          <a:prstGeom prst="roundRect">
            <a:avLst>
              <a:gd name="adj" fmla="val 7143"/>
            </a:avLst>
          </a:prstGeom>
          <a:solidFill>
            <a:srgbClr val="13294B"/>
          </a:solidFill>
        </p:spPr>
      </p:sp>
      <p:sp>
        <p:nvSpPr>
          <p:cNvPr id="26" name="Text 24"/>
          <p:cNvSpPr txBox="1"/>
          <p:nvPr/>
        </p:nvSpPr>
        <p:spPr>
          <a:xfrm>
            <a:off x="7132320" y="44805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Next Word: “on”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BERT vs GPT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554480"/>
          <a:ext cx="11064240" cy="356616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BERT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GPT-2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9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Full Form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Bidirectional Encoder Representations from Transformers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Generative Pre-trained Transformer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Architecture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Encoder-only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Decoder-only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Context Processing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Bidirectional (both directions at once)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Causal (left-to-right only)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 Purpose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understanding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generation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Embedding Extraction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[CLS] token or mean pooling of encoder outputs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 pooling of decoder hidden states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Applications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Classification, Q&amp;A, NER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Text generation, chatbots, completion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EAF1FB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1663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idea:  </a:t>
            </a:r>
            <a:r>
              <a:rPr lang="en-US" sz="13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 looks at the whole sentence at once (bidirectional), while GPT-2 reads only left-to-right (causal). This difference affects how well each model's embeddings capture overall sentence meaning.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Requirements and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5628" y="18928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6" name="Text 4"/>
          <p:cNvSpPr txBox="1"/>
          <p:nvPr/>
        </p:nvSpPr>
        <p:spPr>
          <a:xfrm>
            <a:off x="1595628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62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notebook environment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4548" y="18928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1" name="Text 9"/>
          <p:cNvSpPr txBox="1"/>
          <p:nvPr/>
        </p:nvSpPr>
        <p:spPr>
          <a:xfrm>
            <a:off x="4384548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5146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862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programming language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3468" y="18928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6" name="Text 14"/>
          <p:cNvSpPr txBox="1"/>
          <p:nvPr/>
        </p:nvSpPr>
        <p:spPr>
          <a:xfrm>
            <a:off x="7173468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5146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PyTorch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862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framework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2388" y="18928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21" name="Text 19"/>
          <p:cNvSpPr txBox="1"/>
          <p:nvPr/>
        </p:nvSpPr>
        <p:spPr>
          <a:xfrm>
            <a:off x="9962388" y="18928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5146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Hugging Face Transformers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28620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Pretrained BERT &amp; GPT-2 models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5628" y="37216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26" name="Text 24"/>
          <p:cNvSpPr txBox="1"/>
          <p:nvPr/>
        </p:nvSpPr>
        <p:spPr>
          <a:xfrm>
            <a:off x="1595628" y="37216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3434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6908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clustering &amp; PCA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4548" y="37216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31" name="Text 29"/>
          <p:cNvSpPr txBox="1"/>
          <p:nvPr/>
        </p:nvSpPr>
        <p:spPr>
          <a:xfrm>
            <a:off x="4384548" y="37216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43434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29000" y="46908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handling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73468" y="37216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36" name="Text 34"/>
          <p:cNvSpPr txBox="1"/>
          <p:nvPr/>
        </p:nvSpPr>
        <p:spPr>
          <a:xfrm>
            <a:off x="7173468" y="37216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43434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46908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Plotting results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915400" y="3520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62388" y="3721608"/>
            <a:ext cx="512064" cy="51206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41" name="Text 39"/>
          <p:cNvSpPr txBox="1"/>
          <p:nvPr/>
        </p:nvSpPr>
        <p:spPr>
          <a:xfrm>
            <a:off x="9962388" y="37216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006840" y="43434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Seaborn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006840" y="469087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visualization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0769"/>
            </a:avLst>
          </a:prstGeom>
          <a:solidFill>
            <a:srgbClr val="13294B"/>
          </a:solidFill>
        </p:spPr>
      </p:sp>
      <p:sp>
        <p:nvSpPr>
          <p:cNvPr id="45" name="Text 43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Colab provides a free cloud environment that can run this experiment using either CPU or GPU runtime.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Sample Dataset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600200"/>
          <a:ext cx="5577840" cy="420624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Sentence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 love playing football.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 enjoy playing soccer.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weather is very hot.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S4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 is a sunny day.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S5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 like eating pizza.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S6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3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Pizza is my favorite food.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92240" y="160020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5C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SENTENCES GROUPED INTO CATEGORIES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92240" y="20116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15875">
            <a:solidFill>
              <a:srgbClr val="2E5C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2286000"/>
            <a:ext cx="329184" cy="32918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8" name="Text 5"/>
          <p:cNvSpPr txBox="1"/>
          <p:nvPr/>
        </p:nvSpPr>
        <p:spPr>
          <a:xfrm>
            <a:off x="7223760" y="212140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Sports</a:t>
            </a:r>
            <a:endParaRPr lang="en-US" sz="1450" dirty="0"/>
          </a:p>
        </p:txBody>
      </p:sp>
      <p:sp>
        <p:nvSpPr>
          <p:cNvPr id="4" name="Text 6"/>
          <p:cNvSpPr txBox="1"/>
          <p:nvPr/>
        </p:nvSpPr>
        <p:spPr>
          <a:xfrm>
            <a:off x="7223760" y="24505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S1, S2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92240" y="30632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15875">
            <a:solidFill>
              <a:srgbClr val="4A7FC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3337560"/>
            <a:ext cx="329184" cy="329184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12" name="Text 9"/>
          <p:cNvSpPr txBox="1"/>
          <p:nvPr/>
        </p:nvSpPr>
        <p:spPr>
          <a:xfrm>
            <a:off x="7223760" y="31729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Weather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50215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S3, S4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92240" y="41148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15875">
            <a:solidFill>
              <a:srgbClr val="13294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4389120"/>
            <a:ext cx="329184" cy="329184"/>
          </a:xfrm>
          <a:prstGeom prst="ellipse">
            <a:avLst/>
          </a:prstGeom>
          <a:solidFill>
            <a:srgbClr val="13294B"/>
          </a:solidFill>
        </p:spPr>
      </p:sp>
      <p:sp>
        <p:nvSpPr>
          <p:cNvPr id="16" name="Text 13"/>
          <p:cNvSpPr txBox="1"/>
          <p:nvPr/>
        </p:nvSpPr>
        <p:spPr>
          <a:xfrm>
            <a:off x="7223760" y="42245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Food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455371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S5, S6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0" y="52120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2F3F5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52120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six sentences were prepared in a Notepad (.txt) file — sentences.txt — and uploaded to Google Colab for 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2E5C99"/>
          </a:solidFill>
        </p:spPr>
      </p:sp>
      <p:sp>
        <p:nvSpPr>
          <p:cNvPr id="5" name="Text 3"/>
          <p:cNvSpPr txBox="1"/>
          <p:nvPr/>
        </p:nvSpPr>
        <p:spPr>
          <a:xfrm>
            <a:off x="658368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3911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Sentences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8775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raw text sentences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62656" y="2400300"/>
            <a:ext cx="128016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169164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2E5C99"/>
          </a:solidFill>
        </p:spPr>
      </p:sp>
      <p:sp>
        <p:nvSpPr>
          <p:cNvPr id="10" name="Text 8"/>
          <p:cNvSpPr txBox="1"/>
          <p:nvPr/>
        </p:nvSpPr>
        <p:spPr>
          <a:xfrm>
            <a:off x="3218688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203911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18688" y="258775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into sub-word tokens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2976" y="2400300"/>
            <a:ext cx="128016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0" y="169164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2E5C99"/>
          </a:solidFill>
        </p:spPr>
      </p:sp>
      <p:sp>
        <p:nvSpPr>
          <p:cNvPr id="15" name="Text 13"/>
          <p:cNvSpPr txBox="1"/>
          <p:nvPr/>
        </p:nvSpPr>
        <p:spPr>
          <a:xfrm>
            <a:off x="5779008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79008" y="203911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 &amp; GPT Models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779008" y="258775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pretrained models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83296" y="2400300"/>
            <a:ext cx="128016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0" y="169164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2E5C99"/>
          </a:solidFill>
        </p:spPr>
      </p:sp>
      <p:sp>
        <p:nvSpPr>
          <p:cNvPr id="20" name="Text 18"/>
          <p:cNvSpPr txBox="1"/>
          <p:nvPr/>
        </p:nvSpPr>
        <p:spPr>
          <a:xfrm>
            <a:off x="8339328" y="1783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203911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Embeddings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39328" y="258775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pooled hidden states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</p:spPr>
      </p:sp>
      <p:sp>
        <p:nvSpPr>
          <p:cNvPr id="24" name="Text 22"/>
          <p:cNvSpPr txBox="1"/>
          <p:nvPr/>
        </p:nvSpPr>
        <p:spPr>
          <a:xfrm>
            <a:off x="658368" y="3703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95935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450799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sentence pairs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62656" y="4320540"/>
            <a:ext cx="128016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108960" y="36118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</p:spPr>
      </p:sp>
      <p:sp>
        <p:nvSpPr>
          <p:cNvPr id="29" name="Text 27"/>
          <p:cNvSpPr txBox="1"/>
          <p:nvPr/>
        </p:nvSpPr>
        <p:spPr>
          <a:xfrm>
            <a:off x="3218688" y="3703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218688" y="395935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218688" y="450799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similar sentences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22976" y="4320540"/>
            <a:ext cx="128016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69280" y="36118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</p:spPr>
      </p:sp>
      <p:sp>
        <p:nvSpPr>
          <p:cNvPr id="34" name="Text 32"/>
          <p:cNvSpPr txBox="1"/>
          <p:nvPr/>
        </p:nvSpPr>
        <p:spPr>
          <a:xfrm>
            <a:off x="5779008" y="3703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779008" y="395935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Visualization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779008" y="450799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to 2D for plotting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83296" y="4320540"/>
            <a:ext cx="128016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229600" y="3611880"/>
            <a:ext cx="2395728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</p:spPr>
      </p:sp>
      <p:sp>
        <p:nvSpPr>
          <p:cNvPr id="39" name="Text 37"/>
          <p:cNvSpPr txBox="1"/>
          <p:nvPr/>
        </p:nvSpPr>
        <p:spPr>
          <a:xfrm>
            <a:off x="8339328" y="3703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339328" y="3959352"/>
            <a:ext cx="21762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of Results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339328" y="4507992"/>
            <a:ext cx="21762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 vs GPT-2 outcomes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27464" y="3108960"/>
            <a:ext cx="0" cy="25146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46504" y="3360420"/>
            <a:ext cx="7680960" cy="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46504" y="3360420"/>
            <a:ext cx="0" cy="251460"/>
          </a:xfrm>
          <a:prstGeom prst="line">
            <a:avLst/>
          </a:prstGeom>
          <a:noFill/>
          <a:ln w="22225">
            <a:solidFill>
              <a:srgbClr val="4A7FC1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pipeline takes raw sentences through tokenization, dual embedding generation, similarity scoring, clustering, and 2D visualization for side-by-side comparison.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27632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required libraries (transformers, torch, scikit-learn).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365760" cy="3657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8" name="Text 6"/>
          <p:cNvSpPr txBox="1"/>
          <p:nvPr/>
        </p:nvSpPr>
        <p:spPr>
          <a:xfrm>
            <a:off x="548640" y="22219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203704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sentences.txt to Google Colab.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1" name="Text 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pretrained BERT and GPT-2 models.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4" name="Text 12"/>
          <p:cNvSpPr txBox="1"/>
          <p:nvPr/>
        </p:nvSpPr>
        <p:spPr>
          <a:xfrm>
            <a:off x="548640" y="337413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55848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sentence embeddings for each sentence.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50208"/>
            <a:ext cx="365760" cy="3657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7" name="Text 15"/>
          <p:cNvSpPr txBox="1"/>
          <p:nvPr/>
        </p:nvSpPr>
        <p:spPr>
          <a:xfrm>
            <a:off x="548640" y="39502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931920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 cosine similarity between sentence pairs.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365760" cy="3657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507992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 K-Means clustering on the embeddings.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365760" cy="3657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23" name="Text 21"/>
          <p:cNvSpPr txBox="1"/>
          <p:nvPr/>
        </p:nvSpPr>
        <p:spPr>
          <a:xfrm>
            <a:off x="548640" y="51023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084064"/>
            <a:ext cx="5074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results using PCA (2D scatter plot).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160020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1B2430"/>
          </a:solidFill>
        </p:spPr>
      </p:sp>
      <p:sp>
        <p:nvSpPr>
          <p:cNvPr id="26" name="Shape 24"/>
          <p:cNvSpPr/>
          <p:nvPr/>
        </p:nvSpPr>
        <p:spPr>
          <a:xfrm>
            <a:off x="6675120" y="1783080"/>
            <a:ext cx="128016" cy="128016"/>
          </a:xfrm>
          <a:prstGeom prst="ellipse">
            <a:avLst/>
          </a:prstGeom>
          <a:solidFill>
            <a:srgbClr val="E06666"/>
          </a:solidFill>
        </p:spPr>
      </p:sp>
      <p:sp>
        <p:nvSpPr>
          <p:cNvPr id="27" name="Shape 25"/>
          <p:cNvSpPr/>
          <p:nvPr/>
        </p:nvSpPr>
        <p:spPr>
          <a:xfrm>
            <a:off x="6876288" y="1783080"/>
            <a:ext cx="128016" cy="128016"/>
          </a:xfrm>
          <a:prstGeom prst="ellipse">
            <a:avLst/>
          </a:prstGeom>
          <a:solidFill>
            <a:srgbClr val="F1C232"/>
          </a:solidFill>
        </p:spPr>
      </p:sp>
      <p:sp>
        <p:nvSpPr>
          <p:cNvPr id="28" name="Shape 26"/>
          <p:cNvSpPr/>
          <p:nvPr/>
        </p:nvSpPr>
        <p:spPr>
          <a:xfrm>
            <a:off x="7077456" y="1783080"/>
            <a:ext cx="128016" cy="128016"/>
          </a:xfrm>
          <a:prstGeom prst="ellipse">
            <a:avLst/>
          </a:prstGeom>
          <a:solidFill>
            <a:srgbClr val="6AA84F"/>
          </a:solidFill>
        </p:spPr>
      </p:sp>
      <p:sp>
        <p:nvSpPr>
          <p:cNvPr id="29" name="Text 27"/>
          <p:cNvSpPr txBox="1"/>
          <p:nvPr/>
        </p:nvSpPr>
        <p:spPr>
          <a:xfrm>
            <a:off x="6446520" y="1719072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5B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colab_notebook.py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2148840"/>
            <a:ext cx="4709160" cy="3794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8FB4E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!pip install transformers torch scikit-learn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transformers import AutoTokenizer, AutoModel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tokenizer = AutoTokenizer.from_pretrained(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C8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"bert-base-uncased")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model = AutoModel.from_pretrained(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2C87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"bert-base-uncased")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7CA6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Generate sentence embedding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tokens = tokenizer(sentence, return_tensors="pt")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outputs = model(**tokens)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embedding = outputs.last_hidden_state.mean(dim=1)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i="1" dirty="0">
                <a:solidFill>
                  <a:srgbClr val="7CA6C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Cosine similarity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sklearn.metrics.pairwise import cosine_similarity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6DE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score = cosine_similarity(vec1, vec2) * 100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Cosine Similarity Results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600200"/>
          <a:ext cx="11064240" cy="2057400"/>
        </p:xfrm>
        <a:graphic>
          <a:graphicData uri="http://schemas.openxmlformats.org/drawingml/2006/table">
            <a:tbl>
              <a:tblPr/>
              <a:tblGrid>
                <a:gridCol w="484632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Sentence Pair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BERT Similarity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GPT-2 Similarity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S1 – S2  (football / soccer)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C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86.75%</a:t>
                      </a:r>
                      <a:endParaRPr lang="en-US" sz="14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C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99.98%</a:t>
                      </a:r>
                      <a:endParaRPr lang="en-US" sz="14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S3 – S4  (weather / sunny)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C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81.45%</a:t>
                      </a:r>
                      <a:endParaRPr lang="en-US" sz="14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C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99.91%</a:t>
                      </a:r>
                      <a:endParaRPr lang="en-US" sz="14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3294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S5 – S6  (pizza / pizza)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C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84.41%</a:t>
                      </a:r>
                      <a:endParaRPr lang="en-US" sz="14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F2A3C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99.82%</a:t>
                      </a:r>
                      <a:endParaRPr lang="en-US" sz="14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Values are cosine similarity between sentence embeddings, multiplied by 100 and shown as a percentage.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E3A66"/>
          </a:solidFill>
        </p:spPr>
      </p:sp>
      <p:sp>
        <p:nvSpPr>
          <p:cNvPr id="7" name="Text 4"/>
          <p:cNvSpPr txBox="1"/>
          <p:nvPr/>
        </p:nvSpPr>
        <p:spPr>
          <a:xfrm>
            <a:off x="868680" y="4389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IMPORTANT OBSERVATION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681728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GPT-2 similarity scores are unusually high across almost all sentence pairs, not just the related ones. This happens because raw GPT-2 hidden states, combined with simple mean pooling, are not specifically optimized for measuring sentence similarity. This does NOT mean GPT-2 embeddings are better than BERT's — it highlights a limitation of using raw GPT-2 representations for this task.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Clustering and Visualization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466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clustering groups sentence embeddings into K clusters based on how close they are to each other.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(Principal Component Analysis) reduces high-dimensional embeddings (e.g. 768 dimensions) down to 2D so they can be plotted.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Sentences with similar meaning are expected to form clusters that sit closer together on the plot.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numbers (0, 1, 2) are arbitrary labels chosen by the algorithm — they do not automatically match category names, and results may not perfectly align with the expected Sports / Weather / Food groups.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80760" y="16002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80760" y="1737360"/>
            <a:ext cx="5532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80" dirty="0">
                <a:solidFill>
                  <a:srgbClr val="2E5C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SCATTER PLOT — ILLUSTRATIVE EXAMPLE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0" y="2194560"/>
            <a:ext cx="0" cy="265176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846320"/>
            <a:ext cx="4617720" cy="0"/>
          </a:xfrm>
          <a:prstGeom prst="line">
            <a:avLst/>
          </a:prstGeom>
          <a:noFill/>
          <a:ln w="12700">
            <a:solidFill>
              <a:srgbClr val="5B6B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4892040"/>
            <a:ext cx="4617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 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1488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 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60743" y="3732581"/>
            <a:ext cx="1246784" cy="769010"/>
          </a:xfrm>
          <a:prstGeom prst="ellipse">
            <a:avLst/>
          </a:prstGeom>
          <a:solidFill>
            <a:srgbClr val="2E5C99">
              <a:alpha val="15000"/>
            </a:srgbClr>
          </a:solidFill>
          <a:ln w="12700">
            <a:solidFill>
              <a:srgbClr val="2E5C9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350862" y="4198925"/>
            <a:ext cx="128016" cy="128016"/>
          </a:xfrm>
          <a:prstGeom prst="ellipse">
            <a:avLst/>
          </a:prstGeom>
          <a:solidFill>
            <a:srgbClr val="2E5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7925" y="3986784"/>
            <a:ext cx="128016" cy="128016"/>
          </a:xfrm>
          <a:prstGeom prst="ellipse">
            <a:avLst/>
          </a:prstGeom>
          <a:solidFill>
            <a:srgbClr val="2E5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12330" y="3907231"/>
            <a:ext cx="128016" cy="128016"/>
          </a:xfrm>
          <a:prstGeom prst="ellipse">
            <a:avLst/>
          </a:prstGeom>
          <a:solidFill>
            <a:srgbClr val="2E5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07831" y="2751430"/>
            <a:ext cx="1154430" cy="875081"/>
          </a:xfrm>
          <a:prstGeom prst="ellipse">
            <a:avLst/>
          </a:prstGeom>
          <a:solidFill>
            <a:srgbClr val="4A7FC1">
              <a:alpha val="15000"/>
            </a:srgbClr>
          </a:solidFill>
          <a:ln w="12700">
            <a:solidFill>
              <a:srgbClr val="4A7FC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059418" y="3138221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82658" y="3323844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7950" y="2926080"/>
            <a:ext cx="128016" cy="128016"/>
          </a:xfrm>
          <a:prstGeom prst="ellipse">
            <a:avLst/>
          </a:prstGeom>
          <a:solidFill>
            <a:srgbClr val="4A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69907" y="3865169"/>
            <a:ext cx="1292962" cy="901598"/>
          </a:xfrm>
          <a:prstGeom prst="ellipse">
            <a:avLst/>
          </a:prstGeom>
          <a:solidFill>
            <a:srgbClr val="13294B">
              <a:alpha val="15000"/>
            </a:srgbClr>
          </a:solidFill>
          <a:ln w="12700">
            <a:solidFill>
              <a:srgbClr val="13294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306202" y="4304995"/>
            <a:ext cx="128016" cy="128016"/>
          </a:xfrm>
          <a:prstGeom prst="ellipse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83266" y="4039819"/>
            <a:ext cx="128016" cy="128016"/>
          </a:xfrm>
          <a:prstGeom prst="ellipse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21494" y="4464101"/>
            <a:ext cx="128016" cy="128016"/>
          </a:xfrm>
          <a:prstGeom prst="ellipse">
            <a:avLst/>
          </a:prstGeom>
          <a:solidFill>
            <a:srgbClr val="13294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5303520"/>
            <a:ext cx="146304" cy="146304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24" name="Text 22"/>
          <p:cNvSpPr txBox="1"/>
          <p:nvPr/>
        </p:nvSpPr>
        <p:spPr>
          <a:xfrm>
            <a:off x="6675120" y="5257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83880" y="5303520"/>
            <a:ext cx="146304" cy="146304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26" name="Text 24"/>
          <p:cNvSpPr txBox="1"/>
          <p:nvPr/>
        </p:nvSpPr>
        <p:spPr>
          <a:xfrm>
            <a:off x="8412480" y="5257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21240" y="5303520"/>
            <a:ext cx="146304" cy="146304"/>
          </a:xfrm>
          <a:prstGeom prst="ellipse">
            <a:avLst/>
          </a:prstGeom>
          <a:solidFill>
            <a:srgbClr val="13294B"/>
          </a:solidFill>
        </p:spPr>
      </p:sp>
      <p:sp>
        <p:nvSpPr>
          <p:cNvPr id="28" name="Text 26"/>
          <p:cNvSpPr txBox="1"/>
          <p:nvPr/>
        </p:nvSpPr>
        <p:spPr>
          <a:xfrm>
            <a:off x="10149840" y="52578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2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623560"/>
            <a:ext cx="5074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Illustrative example for demonstration only — actual cluster positions depend on the real program output.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7F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RELEVANCE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 and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AF1FB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1329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92608" cy="292608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6771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035808"/>
            <a:ext cx="292608" cy="292608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0" name="Text 8"/>
          <p:cNvSpPr txBox="1"/>
          <p:nvPr/>
        </p:nvSpPr>
        <p:spPr>
          <a:xfrm>
            <a:off x="868680" y="30358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0175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classification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785616"/>
            <a:ext cx="292608" cy="292608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3" name="Text 11"/>
          <p:cNvSpPr txBox="1"/>
          <p:nvPr/>
        </p:nvSpPr>
        <p:spPr>
          <a:xfrm>
            <a:off x="868680" y="378561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6732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similarity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535424"/>
            <a:ext cx="292608" cy="292608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6" name="Text 14"/>
          <p:cNvSpPr txBox="1"/>
          <p:nvPr/>
        </p:nvSpPr>
        <p:spPr>
          <a:xfrm>
            <a:off x="868680" y="45354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51713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retrieval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5285232"/>
            <a:ext cx="292608" cy="292608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19" name="Text 17"/>
          <p:cNvSpPr txBox="1"/>
          <p:nvPr/>
        </p:nvSpPr>
        <p:spPr>
          <a:xfrm>
            <a:off x="868680" y="528523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66944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clustering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1E3A66"/>
          </a:solidFill>
        </p:spPr>
      </p:sp>
      <p:sp>
        <p:nvSpPr>
          <p:cNvPr id="22" name="Text 20"/>
          <p:cNvSpPr txBox="1"/>
          <p:nvPr/>
        </p:nvSpPr>
        <p:spPr>
          <a:xfrm>
            <a:off x="653796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37960" y="2286000"/>
            <a:ext cx="292608" cy="292608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24" name="Text 22"/>
          <p:cNvSpPr txBox="1"/>
          <p:nvPr/>
        </p:nvSpPr>
        <p:spPr>
          <a:xfrm>
            <a:off x="6537960" y="22860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24028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dataset — only six sentences were used.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3200400"/>
            <a:ext cx="292608" cy="292608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27" name="Text 25"/>
          <p:cNvSpPr txBox="1"/>
          <p:nvPr/>
        </p:nvSpPr>
        <p:spPr>
          <a:xfrm>
            <a:off x="6537960" y="32004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15468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scores depend heavily on the embedding extraction method chosen.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4114800"/>
            <a:ext cx="292608" cy="292608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30" name="Text 28"/>
          <p:cNvSpPr txBox="1"/>
          <p:nvPr/>
        </p:nvSpPr>
        <p:spPr>
          <a:xfrm>
            <a:off x="6537960" y="41148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406908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GPT-2 embeddings may not give reliable semantic similarity.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37960" y="5029200"/>
            <a:ext cx="292608" cy="292608"/>
          </a:xfrm>
          <a:prstGeom prst="ellipse">
            <a:avLst/>
          </a:prstGeom>
          <a:solidFill>
            <a:srgbClr val="4A7FC1"/>
          </a:solidFill>
        </p:spPr>
      </p:sp>
      <p:sp>
        <p:nvSpPr>
          <p:cNvPr id="33" name="Text 31"/>
          <p:cNvSpPr txBox="1"/>
          <p:nvPr/>
        </p:nvSpPr>
        <p:spPr>
          <a:xfrm>
            <a:off x="6537960" y="50292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498348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Clustering results depend on the number of clusters (K) and overall dataset quality.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LABORATORY  |  EXPERIMENT 6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411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BERT and GPT-2 can both generate numerical (vector) representations of sentences.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similarity measures how close two sentence embeddings are to each other.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clustering groups similar sentence representations together.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helps visualize high-dimensional embeddings in 2D space.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experiment highlights the difference between bidirectional (BERT) and causal (GPT) transformer representations.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quality of sentence similarity results depends on the model and embedding extraction method used.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83880" y="160020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E3A66"/>
          </a:solidFill>
        </p:spPr>
      </p:sp>
      <p:sp>
        <p:nvSpPr>
          <p:cNvPr id="6" name="Shape 4"/>
          <p:cNvSpPr/>
          <p:nvPr/>
        </p:nvSpPr>
        <p:spPr>
          <a:xfrm>
            <a:off x="9509760" y="2194560"/>
            <a:ext cx="822960" cy="822960"/>
          </a:xfrm>
          <a:prstGeom prst="ellipse">
            <a:avLst/>
          </a:prstGeom>
          <a:solidFill>
            <a:srgbClr val="2E5C99"/>
          </a:solidFill>
        </p:spPr>
      </p:sp>
      <p:sp>
        <p:nvSpPr>
          <p:cNvPr id="7" name="Text 5"/>
          <p:cNvSpPr txBox="1"/>
          <p:nvPr/>
        </p:nvSpPr>
        <p:spPr>
          <a:xfrm>
            <a:off x="9509760" y="219456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324612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text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meaningful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numerical vectors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897880"/>
            <a:ext cx="11064240" cy="0"/>
          </a:xfrm>
          <a:prstGeom prst="line">
            <a:avLst/>
          </a:prstGeom>
          <a:noFill/>
          <a:ln w="12700">
            <a:solidFill>
              <a:srgbClr val="1E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60350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8FB4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are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7757</Words>
  <Application>WPS Presentation</Application>
  <PresentationFormat>On-screen Show (16:9)</PresentationFormat>
  <Paragraphs>481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Agathiyan</cp:lastModifiedBy>
  <cp:revision>2</cp:revision>
  <dcterms:created xsi:type="dcterms:W3CDTF">2026-09-26T04:57:00Z</dcterms:created>
  <dcterms:modified xsi:type="dcterms:W3CDTF">2026-09-26T05:13:15Z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5A3F87F5B8BC496BBF7465C1A7CC19B3_13</vt:lpwstr>
  </property>
  <property fmtid="{D5CDD505-2E9C-101B-9397-08002B2CF9AE}" pid="3" name="KSOProductBuildVer">
    <vt:lpwstr>1033-12.1.0.28485</vt:lpwstr>
  </property>
</Properties>
</file>